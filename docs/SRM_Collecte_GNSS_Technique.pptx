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Integration GNSS double recepteur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15A3B"/>
                </a:solidFill>
                <a:latin typeface="Calibri"/>
              </a:rPr>
              <a:t>Tersus</a:t>
            </a:r>
            <a:r>
              <a:rPr sz="4000" b="1">
                <a:solidFill>
                  <a:srgbClr val="1E293B"/>
                </a:solidFill>
                <a:latin typeface="Calibri"/>
              </a:rPr>
              <a:t> / </a:t>
            </a:r>
            <a:r>
              <a:rPr sz="4000" b="1">
                <a:solidFill>
                  <a:srgbClr val="1CA9C9"/>
                </a:solidFill>
                <a:latin typeface="Calibri"/>
              </a:rPr>
              <a:t>CHCNAV</a:t>
            </a:r>
            <a:r>
              <a:rPr sz="4000" b="1">
                <a:solidFill>
                  <a:srgbClr val="1E293B"/>
                </a:solidFill>
                <a:latin typeface="Calibri"/>
              </a:rPr>
              <a:t>  -  dossier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A6675"/>
                </a:solidFill>
                <a:latin typeface="Calibri"/>
              </a:rPr>
              <a:t>Pipeline NMEA -&gt; Merchich, reduction antenne par marque, preuves de validation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675"/>
                </a:solidFill>
                <a:latin typeface="Calibri"/>
              </a:rPr>
              <a:t>Cale sur le code : antenna_catalog.dart, gnss_config_service.dart, projection_service.dart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3611880"/>
            <a:ext cx="1325880" cy="91440"/>
          </a:xfrm>
          <a:prstGeom prst="rect">
            <a:avLst/>
          </a:prstGeom>
          <a:solidFill>
            <a:srgbClr val="F1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0760" y="3611880"/>
            <a:ext cx="1325880" cy="91440"/>
          </a:xfrm>
          <a:prstGeom prst="rect">
            <a:avLst/>
          </a:prstGeom>
          <a:solidFill>
            <a:srgbClr val="1C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These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L'app reimplemente bit pour bit la chaine de reduction de </a:t>
            </a:r>
            <a:r>
              <a:rPr sz="1800" b="1">
                <a:solidFill>
                  <a:srgbClr val="F15A3B"/>
                </a:solidFill>
                <a:latin typeface="Calibri"/>
              </a:rPr>
              <a:t>Nuwa</a:t>
            </a:r>
            <a:r>
              <a:rPr sz="1800" b="0">
                <a:solidFill>
                  <a:srgbClr val="1E293B"/>
                </a:solidFill>
                <a:latin typeface="Calibri"/>
              </a:rPr>
              <a:t> (Tersus) et de </a:t>
            </a:r>
            <a:r>
              <a:rPr sz="1800" b="1">
                <a:solidFill>
                  <a:srgbClr val="1CA9C9"/>
                </a:solidFill>
                <a:latin typeface="Calibri"/>
              </a:rPr>
              <a:t>LandStar</a:t>
            </a:r>
            <a:r>
              <a:rPr sz="1800" b="0">
                <a:solidFill>
                  <a:srgbClr val="1E293B"/>
                </a:solidFill>
                <a:latin typeface="Calibri"/>
              </a:rPr>
              <a:t> (CHCNAV).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Le pipeline de positionnement est IDENTIQUE entre les deux marques.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Seules deux choses divergent, et sont branchees par marque :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F15A3B"/>
                </a:solidFill>
                <a:latin typeface="Calibri"/>
              </a:rPr>
              <a:t>1.  </a:t>
            </a:r>
            <a:r>
              <a:rPr sz="1700" b="0">
                <a:solidFill>
                  <a:srgbClr val="1E293B"/>
                </a:solidFill>
                <a:latin typeface="Calibri"/>
              </a:rPr>
              <a:t>Les constantes geometriques d'antenne (catalogue par marque).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1">
                <a:solidFill>
                  <a:srgbClr val="F15A3B"/>
                </a:solidFill>
                <a:latin typeface="Calibri"/>
              </a:rPr>
              <a:t>2.  </a:t>
            </a:r>
            <a:r>
              <a:rPr sz="1700" b="0">
                <a:solidFill>
                  <a:srgbClr val="1E293B"/>
                </a:solidFill>
                <a:latin typeface="Calibri"/>
              </a:rPr>
              <a:t>Les formules de reduction APC -&gt; sol (offset vertical).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Tout le reste (NMEA -&gt; WGS84 -&gt; Merchich) est commun et valide empiriquement a </a:t>
            </a:r>
            <a:r>
              <a:rPr sz="1700" b="1">
                <a:solidFill>
                  <a:srgbClr val="1CA9C9"/>
                </a:solidFill>
                <a:latin typeface="Calibri"/>
              </a:rPr>
              <a:t>0.1 mm</a:t>
            </a:r>
            <a:r>
              <a:rPr sz="1700" b="0">
                <a:solidFill>
                  <a:srgbClr val="1E293B"/>
                </a:solidFill>
                <a:latin typeface="Calibri"/>
              </a:rPr>
              <a:t> contre Nuwa.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Le pipeline complet (commun aux deux marques)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3/10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7772400" cy="4846320"/>
          </a:xfrm>
          <a:prstGeom prst="rect">
            <a:avLst/>
          </a:prstGeom>
          <a:solidFill>
            <a:srgbClr val="26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Trame NMEA GGA (rover, Bluetooth)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| champ 9  : altitude orthometrique 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| champ 11 : separation geoidale 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h_ellipsoidale = H + N      &lt;- ellipsoidal, PAS l'ortho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proj4dart : WGS84(lon,lat,h) -&gt; Merchich EPSG:26191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| Helmert towgs84 = 31,146,47,0,0,0,0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| WGS84 -&gt; Clarke 1880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| AUCUN geoide (.ggf) : pur datum (= Nuwa BLH84_XYh)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(X, Y, Z_apc) metres Merchich   &lt;- Z = centre de phase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Z_sol = Z_apc - apcToGroundVerticalOffset   &lt;- BRANCHE MARQUE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VerticalAdjustment.apply()   None | Constante | Plan incline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(X, Y, Z_sol) stocke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References code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CA9C9"/>
                </a:solidFill>
                <a:latin typeface="Consolas"/>
              </a:rPr>
              <a:t>projection_service.dart:41-88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100" b="0">
                <a:solidFill>
                  <a:srgbClr val="5A6675"/>
                </a:solidFill>
                <a:latin typeface="Calibri"/>
              </a:rPr>
              <a:t>merchichPointFromGnss, wgs84HeightToMerchich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Soustraction antenne AU SAVE (Z stocke = h_sol), comme LandStar.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A6675"/>
                </a:solidFill>
                <a:latin typeface="Calibri"/>
              </a:rPr>
              <a:t>Tersus/Nuwa stocke h_apc et soustrait a l'export : on a aligne sur LandStar pour un Z deja exploitable en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Pourquoi le datum tombe juste (preuve, pas analogie)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Notre projection_constants.dart : </a:t>
            </a:r>
            <a:r>
              <a:rPr sz="1600" b="1">
                <a:solidFill>
                  <a:srgbClr val="1CA9C9"/>
                </a:solidFill>
                <a:latin typeface="Calibri"/>
              </a:rPr>
              <a:t>+towgs84=31,146,47,0,0,0,0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Ecran Nuwa MERCHICH MAROC Zone 1, onglet Datum Trans (capture 2026-05-31) : </a:t>
            </a:r>
            <a:r>
              <a:rPr sz="1600" b="1">
                <a:solidFill>
                  <a:srgbClr val="F15A3B"/>
                </a:solidFill>
                <a:latin typeface="Calibri"/>
              </a:rPr>
              <a:t>Bursa-Wolf  Dx=-31 Dy=-146 Dz=-47  Rx=Ry=Rz=0  Scale=0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38328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206240"/>
                <a:gridCol w="18288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Rotations / Echelle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Translation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Signe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nulles des 2 cotes -&gt; Bursa 7p degenere en Helmert 3p (pure translation)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identique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-31 vs +31 = convention de sens (inverse = negation exacte)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Consequence : </a:t>
            </a:r>
            <a:r>
              <a:rPr sz="1500" b="0">
                <a:solidFill>
                  <a:srgbClr val="1E293B"/>
                </a:solidFill>
                <a:latin typeface="Calibri"/>
              </a:rPr>
              <a:t>l'aller-retour RTK se referme au cm, horizontal ET vertical. Confirme empiriquement : proj4dart 3D = Nuwa BLH-&gt;NEH a 0.1 mm.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Le seul point de divergence : reduction APC -&gt; 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5/10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CA9C9"/>
                </a:solidFill>
                <a:latin typeface="Calibri"/>
              </a:rPr>
              <a:t>GnssRoverConfig.apcToGroundVerticalOffset</a:t>
            </a:r>
            <a:r>
              <a:rPr sz="1300" b="0">
                <a:solidFill>
                  <a:srgbClr val="1E293B"/>
                </a:solidFill>
                <a:latin typeface="Calibri"/>
              </a:rPr>
              <a:t>  fait un switch(brand). Formules par methode 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7548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Methode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CHCNAV (LandStar)</a:t>
                      </a:r>
                    </a:p>
                  </a:txBody>
                  <a:tcPr marL="73152" marR="73152" marT="36576" marB="36576" anchor="ctr">
                    <a:solidFill>
                      <a:srgbClr val="F15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Tersus (Nuwa)</a:t>
                      </a:r>
                    </a:p>
                  </a:txBody>
                  <a:tcPr marL="73152" marR="73152" marT="36576" marB="36576" anchor="ctr">
                    <a:solidFill>
                      <a:srgbClr val="1CA9C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Vertical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A = H + DH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A = H  (rien ajoute)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PhaseCenter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A = H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A = H + AntCenter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Slant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A = sqrt(H2 - R0^2) - H0 + DH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Calibri"/>
                        </a:rPr>
                        <a:t>A = |sqrt(H2 - R^2) + AntCenter - AntBottomHeight|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20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Mapping constantes (memes champs, semantique differente)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931920"/>
          <a:ext cx="5394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77440"/>
                <a:gridCol w="210312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CHCNAV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Tersus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r0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R0 (rayon slant)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AntRadius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h0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H0 (APR-&gt;repere)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AntBottomHeight (0.0)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dh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DH (APR-&gt;APC)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AntCenter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09360" y="3931920"/>
            <a:ext cx="5212080" cy="2194560"/>
          </a:xfrm>
          <a:prstGeom prst="rect">
            <a:avLst/>
          </a:prstGeom>
          <a:solidFill>
            <a:srgbClr val="FDECE7"/>
          </a:solidFill>
          <a:ln w="19050">
            <a:solidFill>
              <a:srgbClr val="F15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5A3B"/>
                </a:solidFill>
                <a:latin typeface="Calibri"/>
              </a:rPr>
              <a:t>Le piege metier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Meme hauteur saisie (1,80 m) + mauvaise formule = Z decale de 5 a 10 cm (DH vs AntCenter). Invisible, mais faux pour des profondeurs de reseau.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Calibri"/>
              </a:rPr>
              <a:t>Garde-fou Slant : si r0&lt;=0 ou H&lt;=r0 (racine imaginaire), on retombe sur Vertical.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Catalogues d'antennes (valeurs reelles, par marque)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6/10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CA9C9"/>
                </a:solidFill>
                <a:latin typeface="Calibri"/>
              </a:rPr>
              <a:t>CHCNAV</a:t>
            </a:r>
            <a:r>
              <a:rPr sz="1400" b="0">
                <a:solidFill>
                  <a:srgbClr val="5A6675"/>
                </a:solidFill>
                <a:latin typeface="Calibri"/>
              </a:rPr>
              <a:t>  (CHCNAV/Config/ante.hpc)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303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188720"/>
                <a:gridCol w="100584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Modele</a:t>
                      </a:r>
                    </a:p>
                  </a:txBody>
                  <a:tcPr marL="73152" marR="73152" marT="36576" marB="36576" anchor="ctr">
                    <a:solidFill>
                      <a:srgbClr val="1CA9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r0 (R0)</a:t>
                      </a:r>
                    </a:p>
                  </a:txBody>
                  <a:tcPr marL="73152" marR="73152" marT="36576" marB="36576" anchor="ctr">
                    <a:solidFill>
                      <a:srgbClr val="1CA9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h0 (H0)</a:t>
                      </a:r>
                    </a:p>
                  </a:txBody>
                  <a:tcPr marL="73152" marR="73152" marT="36576" marB="36576" anchor="ctr">
                    <a:solidFill>
                      <a:srgbClr val="1CA9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dh (DH)</a:t>
                      </a:r>
                    </a:p>
                  </a:txBody>
                  <a:tcPr marL="73152" marR="73152" marT="36576" marB="36576" anchor="ctr">
                    <a:solidFill>
                      <a:srgbClr val="1CA9C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GENERIC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i89 / Z100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0.124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0.07996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X16 / X16 Pro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0.124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0.08133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1430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5A3B"/>
                </a:solidFill>
                <a:latin typeface="Calibri"/>
              </a:rPr>
              <a:t>Tersus</a:t>
            </a:r>
            <a:r>
              <a:rPr sz="1400" b="0">
                <a:solidFill>
                  <a:srgbClr val="5A6675"/>
                </a:solidFill>
                <a:latin typeface="Calibri"/>
              </a:rPr>
              <a:t>  (TbAntenna, Nuwa.apk)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554480"/>
          <a:ext cx="5303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097280"/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Modele</a:t>
                      </a:r>
                    </a:p>
                  </a:txBody>
                  <a:tcPr marL="73152" marR="73152" marT="36576" marB="36576" anchor="ctr">
                    <a:solidFill>
                      <a:srgbClr val="F15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r0 (Radius)</a:t>
                      </a:r>
                    </a:p>
                  </a:txBody>
                  <a:tcPr marL="73152" marR="73152" marT="36576" marB="36576" anchor="ctr">
                    <a:solidFill>
                      <a:srgbClr val="F15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h0 (Bottom)</a:t>
                      </a:r>
                    </a:p>
                  </a:txBody>
                  <a:tcPr marL="73152" marR="73152" marT="36576" marB="36576" anchor="ctr">
                    <a:solidFill>
                      <a:srgbClr val="F15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dh (Center)</a:t>
                      </a:r>
                    </a:p>
                  </a:txBody>
                  <a:tcPr marL="73152" marR="73152" marT="36576" marB="36576" anchor="ctr">
                    <a:solidFill>
                      <a:srgbClr val="F15A3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GENERIC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OSCAR (defaut)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0.094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AX3702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AX3702 (HG)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0.0509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AX4E02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0.059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LUKA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0.082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TS20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0.06425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K1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E293B"/>
                          </a:solidFill>
                          <a:latin typeface="Calibri"/>
                        </a:rPr>
                        <a:t>0.082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832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Deux maps separees dans antenna_catalog.dart, jamais fusionnees dans l'UI (sortedForBrand filtre par marque).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A6675"/>
                </a:solidFill>
                <a:latin typeface="Calibri"/>
              </a:rPr>
              <a:t>Cote Tersus : h0 = 0.0 systematique (catalogue officiel). Tout le decalage APC est porte par AntCenter (dh).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Architecture logicielle de la bascule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7/10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6400800" cy="3108960"/>
          </a:xfrm>
          <a:prstGeom prst="rect">
            <a:avLst/>
          </a:prstGeom>
          <a:solidFill>
            <a:srgbClr val="26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enum GnssBrand { chcnav, tersus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GnssRoverConfig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brand, antenna, heightMeters,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surveyType, verticalAdjustment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apcToGroundVerticalOffset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-&gt; switch(brand)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         _chcnavOffset | _tersusOffset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6E6"/>
                </a:solidFill>
                <a:latin typeface="Consolas"/>
              </a:rPr>
              <a:t>GnssConfigService -&gt; persistance app_metadata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Trois defenses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15A3B"/>
                </a:solidFill>
                <a:latin typeface="Calibri"/>
              </a:rPr>
              <a:t>1. Defaut Tersus assume</a:t>
            </a:r>
            <a:r>
              <a:rPr sz="1300" b="0">
                <a:solidFill>
                  <a:srgbClr val="1E293B"/>
                </a:solidFill>
                <a:latin typeface="Calibri"/>
              </a:rPr>
              <a:t> : pas de brand persistee = install pre-enum -&gt; Tersus OSCAR (materiel deploye), pas CHCNAV.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15A3B"/>
                </a:solidFill>
                <a:latin typeface="Calibri"/>
              </a:rPr>
              <a:t>2. Anti-mismatch antenne/marque</a:t>
            </a:r>
            <a:r>
              <a:rPr sz="1300" b="0">
                <a:solidFill>
                  <a:srgbClr val="1E293B"/>
                </a:solidFill>
                <a:latin typeface="Calibri"/>
              </a:rPr>
              <a:t> : antenne hors marque (downgrade, metadata corrompu) -&gt; antenne par defaut de la marque. Jamais la mauvaise formule.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15A3B"/>
                </a:solidFill>
                <a:latin typeface="Calibri"/>
              </a:rPr>
              <a:t>3. Parse tolerant</a:t>
            </a:r>
            <a:r>
              <a:rPr sz="1300" b="0">
                <a:solidFill>
                  <a:srgbClr val="1E293B"/>
                </a:solidFill>
                <a:latin typeface="Calibri"/>
              </a:rPr>
              <a:t> : VerticalAdjustment au format inconnu retombe sur None au lieu de planter.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Cles app_metadata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5A6675"/>
                </a:solidFill>
                <a:latin typeface="Consolas"/>
              </a:rPr>
              <a:t>gnss_rover_brand / _antenna_model / _antenna_height / _antenna_survey_type / gnss_vertical_adjustment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Ajustement vertical (au-dessus de la reduction antenne)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8/10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CA9C9"/>
                </a:solidFill>
                <a:latin typeface="Calibri"/>
              </a:rPr>
              <a:t>sealed class VerticalAdjustment</a:t>
            </a:r>
            <a:r>
              <a:rPr sz="1300" b="0">
                <a:solidFill>
                  <a:srgbClr val="1E293B"/>
                </a:solidFill>
                <a:latin typeface="Calibri"/>
              </a:rPr>
              <a:t>  applique APRES la reduction APC-&gt;sol, sur l'elevation deja en Merchich 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852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Formule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defaut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Constante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H + offset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calage sur 1 point connu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Plan incline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H + a*X + b*Y + 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calage multi-points, ecart Z lineaire avec la position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Le plan incline vise un calage moindres carres sur 3+ points connus (outil Phase 3.1).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15A3B"/>
                </a:solidFill>
                <a:latin typeface="Calibri"/>
              </a:rPr>
              <a:t>C'est le levier</a:t>
            </a:r>
            <a:r>
              <a:rPr sz="1500" b="0">
                <a:solidFill>
                  <a:srgbClr val="1E293B"/>
                </a:solidFill>
                <a:latin typeface="Calibri"/>
              </a:rPr>
              <a:t> si le client exige un jour un rattachement borne NGM officielle au cm. La translation pure Nuwa reste une approx ~5 m vs Merchich geodesique officiel, mais la coherence interne et le rattachement au point base sont parfaits tant qu'on ne touche pas a l'onglet Datum Trans.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Limites connues et dette assumee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9/10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F15A3B"/>
                </a:solidFill>
                <a:latin typeface="Calibri"/>
              </a:rPr>
              <a:t>-  </a:t>
            </a:r>
            <a:r>
              <a:rPr sz="1600" b="1">
                <a:solidFill>
                  <a:srgbClr val="1E293B"/>
                </a:solidFill>
                <a:latin typeface="Calibri"/>
              </a:rPr>
              <a:t>Pas de geoide (.ggf)</a:t>
            </a:r>
            <a:r>
              <a:rPr sz="1600" b="0">
                <a:solidFill>
                  <a:srgbClr val="5A6675"/>
                </a:solidFill>
                <a:latin typeface="Calibri"/>
              </a:rPr>
              <a:t> : volontaire, pour reproduire exactement Nuwa. Z = elevation dans le datum Merchich, pas une altitude orthometrique officielle. Coherent avec le carnet constructeur utilise.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F15A3B"/>
                </a:solidFill>
                <a:latin typeface="Calibri"/>
              </a:rPr>
              <a:t>-  </a:t>
            </a:r>
            <a:r>
              <a:rPr sz="1600" b="1">
                <a:solidFill>
                  <a:srgbClr val="1E293B"/>
                </a:solidFill>
                <a:latin typeface="Calibri"/>
              </a:rPr>
              <a:t>Approx ~5 m vs Merchich geodesique officiel</a:t>
            </a:r>
            <a:r>
              <a:rPr sz="1600" b="0">
                <a:solidFill>
                  <a:srgbClr val="5A6675"/>
                </a:solidFill>
                <a:latin typeface="Calibri"/>
              </a:rPr>
              <a:t> sur l'absolu (translation 3 parametres). Coherence interne et rattachement base = cm.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F15A3B"/>
                </a:solidFill>
                <a:latin typeface="Calibri"/>
              </a:rPr>
              <a:t>-  </a:t>
            </a:r>
            <a:r>
              <a:rPr sz="1600" b="1">
                <a:solidFill>
                  <a:srgbClr val="1E293B"/>
                </a:solidFill>
                <a:latin typeface="Calibri"/>
              </a:rPr>
              <a:t>L'egalite Nuwa casse</a:t>
            </a:r>
            <a:r>
              <a:rPr sz="1600" b="0">
                <a:solidFill>
                  <a:srgbClr val="5A6675"/>
                </a:solidFill>
                <a:latin typeface="Calibri"/>
              </a:rPr>
              <a:t> si : rotation/echelle ajoutees dans Datum Trans, grille NTv2, ou exigence borne NGM. Reponse prevue = calage local (Plan incline) ou grille, pas une refonte du pipeline.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F15A3B"/>
                </a:solidFill>
                <a:latin typeface="Calibri"/>
              </a:rPr>
              <a:t>-  </a:t>
            </a:r>
            <a:r>
              <a:rPr sz="1600" b="1">
                <a:solidFill>
                  <a:srgbClr val="1E293B"/>
                </a:solidFill>
                <a:latin typeface="Calibri"/>
              </a:rPr>
              <a:t>Doctrine terrain</a:t>
            </a:r>
            <a:r>
              <a:rPr sz="1600" b="0">
                <a:solidFill>
                  <a:srgbClr val="5A6675"/>
                </a:solidFill>
                <a:latin typeface="Calibri"/>
              </a:rPr>
              <a:t> : NE PAS modifier l'onglet Datum Trans de Nuwa (garder Bursa -31/-146/-47, rot/scale nuls).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164592" wrap="square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Synthese pour la revue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AA6B5"/>
                </a:solidFill>
                <a:latin typeface="Calibri"/>
              </a:rPr>
              <a:t>10/10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406640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Etat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Pipeline NMEA -&gt; Merchich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commun, valide 0.1 mm vs Nuwa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Datum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translation pure, identique a Nuwa (preuve ecran + empirique)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Reduction antenne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branchee par marque, formules alignees sur sources decompilees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Catalogues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separes par marque, valeurs verifiees (ante.hpc / TbAntenna)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Defenses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defaut Tersus, anti-mismatch antenne/marque, parse tolerant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Calage cm officiel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non couvert (Plan incline en levier, Phase 3.1)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120640"/>
            <a:ext cx="108813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Une seule app native qui reimplemente fidelement deux chaines de reduction constructeur : pipeline commun et prouve, divergence (constantes + formule antenne) isolee derriere un enum GnssBrand et un catalogue par marque.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